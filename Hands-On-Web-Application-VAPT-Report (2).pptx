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"/>
      <p:regular r:id="rId201315"/>
    </p:embeddedFont>
    <p:embeddedFont>
      <p:font typeface="Barlow Bold"/>
      <p:regular r:id="rId201316"/>
    </p:embeddedFont>
    <p:embeddedFont>
      <p:font typeface="Roboto Mon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2159000"/>
            <a:ext cx="7111822" cy="3353792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3" name="Text 1"/>
          <p:cNvSpPr/>
          <p:nvPr/>
        </p:nvSpPr>
        <p:spPr>
          <a:xfrm>
            <a:off x="1015975" y="2499220"/>
            <a:ext cx="6400640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4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Hands-On Web Application VAPT Report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015975" y="3986609"/>
            <a:ext cx="2112116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5" name="Text 3"/>
          <p:cNvSpPr/>
          <p:nvPr/>
        </p:nvSpPr>
        <p:spPr>
          <a:xfrm>
            <a:off x="1015975" y="4308872"/>
            <a:ext cx="6400640" cy="89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1750"/>
              </a:spcAft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Target: DVWA via Docker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Presented By: Varsha Kumari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2620"/>
            <a:ext cx="11277318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4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Scope and environment define a controlled lab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376561"/>
            <a:ext cx="3721503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698823"/>
            <a:ext cx="5486263" cy="2198588"/>
          </a:xfrm>
          <a:prstGeom prst="roundRect">
            <a:avLst>
              <a:gd name="adj" fmla="val 520"/>
            </a:avLst>
          </a:prstGeom>
          <a:solidFill>
            <a:srgbClr val="EEEC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1927423"/>
            <a:ext cx="507987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783" y="2605603"/>
            <a:ext cx="525766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Testing boundary: 127.0.0.1:80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48244" y="1698823"/>
            <a:ext cx="5486263" cy="2198588"/>
          </a:xfrm>
          <a:prstGeom prst="roundRect">
            <a:avLst>
              <a:gd name="adj" fmla="val 520"/>
            </a:avLst>
          </a:prstGeom>
          <a:solidFill>
            <a:srgbClr val="EEECE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38" y="1927423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76838" y="2605603"/>
            <a:ext cx="525766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DVWA Security Level: Low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57189" y="4202212"/>
            <a:ext cx="5486263" cy="2198588"/>
          </a:xfrm>
          <a:prstGeom prst="roundRect">
            <a:avLst>
              <a:gd name="adj" fmla="val 520"/>
            </a:avLst>
          </a:prstGeom>
          <a:solidFill>
            <a:srgbClr val="EEECE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4430812"/>
            <a:ext cx="507987" cy="508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783" y="5108992"/>
            <a:ext cx="525766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Windows 11 host with Docker Desktop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248244" y="4202212"/>
            <a:ext cx="5486263" cy="2198588"/>
          </a:xfrm>
          <a:prstGeom prst="roundRect">
            <a:avLst>
              <a:gd name="adj" fmla="val 520"/>
            </a:avLst>
          </a:prstGeom>
          <a:solidFill>
            <a:srgbClr val="EEECE4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838" y="4430812"/>
            <a:ext cx="507987" cy="508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76838" y="5108992"/>
            <a:ext cx="5029074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Java 17, Burp Suite v2026.9, OWASP ZAP v2.17.0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2620"/>
            <a:ext cx="11277318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4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Four OWASP Top 10 categories anchor the assessment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980009"/>
            <a:ext cx="3721503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2302272"/>
            <a:ext cx="5486263" cy="1820664"/>
          </a:xfrm>
          <a:prstGeom prst="roundRect">
            <a:avLst>
              <a:gd name="adj" fmla="val 628"/>
            </a:avLst>
          </a:prstGeom>
          <a:solidFill>
            <a:srgbClr val="EEECE4"/>
          </a:solidFill>
          <a:ln/>
        </p:spPr>
      </p:sp>
      <p:sp>
        <p:nvSpPr>
          <p:cNvPr id="5" name="Shape 3"/>
          <p:cNvSpPr/>
          <p:nvPr/>
        </p:nvSpPr>
        <p:spPr>
          <a:xfrm>
            <a:off x="685783" y="2530872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1730" y="2638822"/>
            <a:ext cx="7239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783" y="3119644"/>
            <a:ext cx="5029074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A03: Injection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48244" y="2302272"/>
            <a:ext cx="5486263" cy="1820664"/>
          </a:xfrm>
          <a:prstGeom prst="roundRect">
            <a:avLst>
              <a:gd name="adj" fmla="val 628"/>
            </a:avLst>
          </a:prstGeom>
          <a:solidFill>
            <a:srgbClr val="EEECE4"/>
          </a:solidFill>
          <a:ln/>
        </p:spPr>
      </p:sp>
      <p:sp>
        <p:nvSpPr>
          <p:cNvPr id="9" name="Shape 7"/>
          <p:cNvSpPr/>
          <p:nvPr/>
        </p:nvSpPr>
        <p:spPr>
          <a:xfrm>
            <a:off x="6476838" y="2530872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2785" y="2638822"/>
            <a:ext cx="7239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76838" y="3119644"/>
            <a:ext cx="5029074" cy="77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A07: Identification and Authentication Failures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189" y="4427736"/>
            <a:ext cx="5486263" cy="1431032"/>
          </a:xfrm>
          <a:prstGeom prst="roundRect">
            <a:avLst>
              <a:gd name="adj" fmla="val 799"/>
            </a:avLst>
          </a:prstGeom>
          <a:solidFill>
            <a:srgbClr val="EEECE4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783" y="4656336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730" y="4764286"/>
            <a:ext cx="7239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783" y="5245108"/>
            <a:ext cx="5029074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A05: Security Misconfiguration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48244" y="4427736"/>
            <a:ext cx="5486263" cy="1431032"/>
          </a:xfrm>
          <a:prstGeom prst="roundRect">
            <a:avLst>
              <a:gd name="adj" fmla="val 799"/>
            </a:avLst>
          </a:prstGeom>
          <a:solidFill>
            <a:srgbClr val="EEECE4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6838" y="4656336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2785" y="4764286"/>
            <a:ext cx="7239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76838" y="5245108"/>
            <a:ext cx="5029074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A01: Broken Access Control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7189" y="6108323"/>
            <a:ext cx="1173450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the framework to classify evidence, not just list tools.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49573" cy="6858000"/>
          </a:xfrm>
          <a:prstGeom prst="rect">
            <a:avLst/>
          </a:prstGeom>
          <a:solidFill>
            <a:srgbClr val="22262B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3282275"/>
            <a:ext cx="629398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docker run --rm -it -p 80:80 vulnerables/web-dvwa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563851" y="492620"/>
            <a:ext cx="4170655" cy="2413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4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Containerized deployment keeps the lab isolated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563851" y="3186906"/>
            <a:ext cx="1376229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6" name="Text 4"/>
          <p:cNvSpPr/>
          <p:nvPr/>
        </p:nvSpPr>
        <p:spPr>
          <a:xfrm>
            <a:off x="7563851" y="3509169"/>
            <a:ext cx="4170655" cy="1803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06400" indent="-406400">
              <a:lnSpc>
                <a:spcPct val="11000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Expose DVWA locally on port 80</a:t>
            </a:r>
            <a:endParaRPr lang="en-US" sz="2000" dirty="0"/>
          </a:p>
          <a:p>
            <a:pPr algn="l" marL="406400" indent="-406400">
              <a:lnSpc>
                <a:spcPct val="110000"/>
              </a:lnSpc>
              <a:buSzPct val="100000"/>
              <a:buFont typeface="+mj-lt"/>
              <a:buAutoNum type="arabicPeriod" startAt="2"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a disposable container for repeatable testing</a:t>
            </a:r>
            <a:endParaRPr lang="en-US" sz="2000" dirty="0"/>
          </a:p>
          <a:p>
            <a:pPr algn="l" marL="406400" indent="-406400">
              <a:lnSpc>
                <a:spcPct val="110000"/>
              </a:lnSpc>
              <a:buSzPct val="100000"/>
              <a:buFont typeface="+mj-lt"/>
              <a:buAutoNum type="arabicPeriod" startAt="3"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Set the security baseline before exploitation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20392" cy="6858000"/>
          </a:xfrm>
          <a:prstGeom prst="rect">
            <a:avLst/>
          </a:prstGeom>
          <a:solidFill>
            <a:srgbClr val="22262B"/>
          </a:solidFill>
          <a:ln/>
        </p:spPr>
      </p:sp>
      <p:sp>
        <p:nvSpPr>
          <p:cNvPr id="3" name="Text 1"/>
          <p:cNvSpPr/>
          <p:nvPr/>
        </p:nvSpPr>
        <p:spPr>
          <a:xfrm>
            <a:off x="228594" y="3108345"/>
            <a:ext cx="3063203" cy="68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highlight>
                  <a:srgbClr val="E8ED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1' UNION SELECT user(), version() #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434670" y="492620"/>
            <a:ext cx="7299837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4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SQL injection exposes the application’s data layer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434670" y="1980009"/>
            <a:ext cx="2408773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6" name="Shape 4"/>
          <p:cNvSpPr/>
          <p:nvPr/>
        </p:nvSpPr>
        <p:spPr>
          <a:xfrm>
            <a:off x="4434670" y="2530872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80617" y="2638822"/>
            <a:ext cx="7239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18855" y="2558177"/>
            <a:ext cx="671565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UNION-based query execution alters the backend statement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34670" y="3394472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0617" y="3502422"/>
            <a:ext cx="7239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18855" y="3421777"/>
            <a:ext cx="6715652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Database identity and version are returned through the response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34670" y="4528542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0617" y="4636492"/>
            <a:ext cx="7239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18855" y="4555847"/>
            <a:ext cx="671565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Finding: internal database exfiltration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434670" y="5163542"/>
            <a:ext cx="7299837" cy="609600"/>
          </a:xfrm>
          <a:prstGeom prst="rect">
            <a:avLst/>
          </a:prstGeom>
          <a:solidFill>
            <a:srgbClr val="C6501A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264" y="5265142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211" y="5373092"/>
            <a:ext cx="7239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47449" y="5292447"/>
            <a:ext cx="6487057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CVSS v3.1: 9.8 — Critical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93822" cy="6858000"/>
          </a:xfrm>
          <a:prstGeom prst="rect">
            <a:avLst/>
          </a:prstGeom>
          <a:solidFill>
            <a:srgbClr val="22262B"/>
          </a:solidFill>
          <a:ln/>
        </p:spPr>
      </p:sp>
      <p:sp>
        <p:nvSpPr>
          <p:cNvPr id="3" name="Text 1"/>
          <p:cNvSpPr/>
          <p:nvPr/>
        </p:nvSpPr>
        <p:spPr>
          <a:xfrm>
            <a:off x="330192" y="3279100"/>
            <a:ext cx="4363631" cy="341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highlight>
                  <a:srgbClr val="E8ED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&lt;script&gt;alert(1)&lt;/script&gt;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08100" y="492620"/>
            <a:ext cx="6126406" cy="1810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4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Cross-site scripting appears in reflected and stored forms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608100" y="2583458"/>
            <a:ext cx="2021631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6" name="Shape 4"/>
          <p:cNvSpPr/>
          <p:nvPr/>
        </p:nvSpPr>
        <p:spPr>
          <a:xfrm>
            <a:off x="5608100" y="2905720"/>
            <a:ext cx="2987005" cy="2372023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7" name="Text 5"/>
          <p:cNvSpPr/>
          <p:nvPr/>
        </p:nvSpPr>
        <p:spPr>
          <a:xfrm>
            <a:off x="5836695" y="3138892"/>
            <a:ext cx="2529816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Reflected XSS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836695" y="3729057"/>
            <a:ext cx="252981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Reflected XSS executes from an echoed request value — CVSS 6.1, Medium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747501" y="2905720"/>
            <a:ext cx="2987005" cy="2372023"/>
          </a:xfrm>
          <a:prstGeom prst="rect">
            <a:avLst/>
          </a:prstGeom>
          <a:solidFill>
            <a:srgbClr val="E8EDF0"/>
          </a:solidFill>
          <a:ln/>
        </p:spPr>
      </p:sp>
      <p:sp>
        <p:nvSpPr>
          <p:cNvPr id="10" name="Text 8"/>
          <p:cNvSpPr/>
          <p:nvPr/>
        </p:nvSpPr>
        <p:spPr>
          <a:xfrm>
            <a:off x="8976096" y="3138892"/>
            <a:ext cx="2529816" cy="389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Stored XSS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976096" y="3729057"/>
            <a:ext cx="2529816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Stored XSS persists in the guestbook module — CVSS 7.2, High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08100" y="5430143"/>
            <a:ext cx="6126406" cy="1127720"/>
          </a:xfrm>
          <a:prstGeom prst="rect">
            <a:avLst/>
          </a:prstGeom>
          <a:solidFill>
            <a:srgbClr val="C6501A"/>
          </a:solidFill>
          <a:ln/>
        </p:spPr>
      </p:sp>
      <p:sp>
        <p:nvSpPr>
          <p:cNvPr id="13" name="Text 11"/>
          <p:cNvSpPr/>
          <p:nvPr/>
        </p:nvSpPr>
        <p:spPr>
          <a:xfrm>
            <a:off x="5836695" y="5679698"/>
            <a:ext cx="5669218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Contrast immediate reflection with server-side persistence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2620"/>
            <a:ext cx="11277318" cy="603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4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Burp Suite makes each request inspectable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376561"/>
            <a:ext cx="3721503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698823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5987" y="1806773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189" y="2206823"/>
            <a:ext cx="2590735" cy="19050"/>
          </a:xfrm>
          <a:prstGeom prst="rect">
            <a:avLst/>
          </a:prstGeom>
          <a:solidFill>
            <a:srgbClr val="C6501A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2382845"/>
            <a:ext cx="2590735" cy="1168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Configure the browser proxy on port 8080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352716" y="1698823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515" y="1806773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52716" y="2206823"/>
            <a:ext cx="2590735" cy="19050"/>
          </a:xfrm>
          <a:prstGeom prst="rect">
            <a:avLst/>
          </a:prstGeom>
          <a:solidFill>
            <a:srgbClr val="C6501A"/>
          </a:solidFill>
          <a:ln/>
        </p:spPr>
      </p:sp>
      <p:sp>
        <p:nvSpPr>
          <p:cNvPr id="11" name="Text 9"/>
          <p:cNvSpPr/>
          <p:nvPr/>
        </p:nvSpPr>
        <p:spPr>
          <a:xfrm>
            <a:off x="3352716" y="2382845"/>
            <a:ext cx="2590735" cy="1168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Capture raw HTTP GET requests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48244" y="1698823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7042" y="1806773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48244" y="2206823"/>
            <a:ext cx="2590735" cy="19050"/>
          </a:xfrm>
          <a:prstGeom prst="rect">
            <a:avLst/>
          </a:prstGeom>
          <a:solidFill>
            <a:srgbClr val="C6501A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244" y="2382845"/>
            <a:ext cx="2590735" cy="155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Inspect headers, cookies, and User-Agent strings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43771" y="1698823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2570" y="1806773"/>
            <a:ext cx="838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3771" y="2206823"/>
            <a:ext cx="2590735" cy="19050"/>
          </a:xfrm>
          <a:prstGeom prst="rect">
            <a:avLst/>
          </a:prstGeom>
          <a:solidFill>
            <a:srgbClr val="C6501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3771" y="2382845"/>
            <a:ext cx="2590735" cy="155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spc="-13" kern="100" dirty="0">
                <a:solidFill>
                  <a:srgbClr val="22262B"/>
                </a:solidFill>
                <a:latin typeface="Barlow SemiBold" pitchFamily="34" charset="0"/>
                <a:ea typeface="Barlow SemiBold" pitchFamily="34" charset="-122"/>
                <a:cs typeface="Barlow SemiBold" pitchFamily="34" charset="-120"/>
              </a:rPr>
              <a:t>Replay and compare requests to validate behavior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2620"/>
            <a:ext cx="11277318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4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OWASP ZAP turns the lab into a repeatable scan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980009"/>
            <a:ext cx="3721503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2302272"/>
            <a:ext cx="5562461" cy="1264543"/>
          </a:xfrm>
          <a:prstGeom prst="roundRect">
            <a:avLst>
              <a:gd name="adj" fmla="val 904"/>
            </a:avLst>
          </a:prstGeom>
          <a:solidFill>
            <a:srgbClr val="EEEC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2530912"/>
            <a:ext cx="507987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7764" y="2551827"/>
            <a:ext cx="4343291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 passive and active scanning against the local target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172046" y="2302272"/>
            <a:ext cx="5562461" cy="1264543"/>
          </a:xfrm>
          <a:prstGeom prst="roundRect">
            <a:avLst>
              <a:gd name="adj" fmla="val 904"/>
            </a:avLst>
          </a:prstGeom>
          <a:solidFill>
            <a:srgbClr val="EEECE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640" y="2530912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62621" y="2551827"/>
            <a:ext cx="457188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 security alerts identified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57189" y="3719116"/>
            <a:ext cx="5562461" cy="1264741"/>
          </a:xfrm>
          <a:prstGeom prst="roundRect">
            <a:avLst>
              <a:gd name="adj" fmla="val 904"/>
            </a:avLst>
          </a:prstGeom>
          <a:solidFill>
            <a:srgbClr val="EEECE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3947755"/>
            <a:ext cx="507987" cy="508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47764" y="3968671"/>
            <a:ext cx="4343291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Missing CSP and X-Frame-Options headers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172046" y="3719116"/>
            <a:ext cx="5562461" cy="1264741"/>
          </a:xfrm>
          <a:prstGeom prst="roundRect">
            <a:avLst>
              <a:gd name="adj" fmla="val 904"/>
            </a:avLst>
          </a:prstGeom>
          <a:solidFill>
            <a:srgbClr val="EEECE4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640" y="3947755"/>
            <a:ext cx="507987" cy="508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62621" y="3968671"/>
            <a:ext cx="457188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Directory browsing enabled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457189" y="5136158"/>
            <a:ext cx="11277318" cy="1264543"/>
          </a:xfrm>
          <a:prstGeom prst="roundRect">
            <a:avLst>
              <a:gd name="adj" fmla="val 904"/>
            </a:avLst>
          </a:prstGeom>
          <a:solidFill>
            <a:srgbClr val="EEECE4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83" y="5364797"/>
            <a:ext cx="507987" cy="508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47764" y="5385713"/>
            <a:ext cx="10286743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Missing HttpOnly and SameSite cookie flags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2620"/>
            <a:ext cx="11277318" cy="1206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4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Severity prioritization separates critical risk from hygiene gaps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980009"/>
            <a:ext cx="3721503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2302272"/>
          <a:ext cx="11277318" cy="914400"/>
        </p:xfrm>
        <a:graphic>
          <a:graphicData uri="http://schemas.openxmlformats.org/drawingml/2006/table">
            <a:tbl>
              <a:tblPr/>
              <a:tblGrid>
                <a:gridCol w="4429709"/>
                <a:gridCol w="2636772"/>
                <a:gridCol w="3067668"/>
                <a:gridCol w="380990"/>
                <a:gridCol w="380990"/>
                <a:gridCol w="381189"/>
              </a:tblGrid>
              <a:tr h="551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Finding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CVSS v3.1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Severity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SQL injection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9.8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Critical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C6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Stored XSS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7.2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High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3F5A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5A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A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Reflected XSS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6.1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Medium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CSP Header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5.3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Medium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Cookie Flags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3.8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Low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1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Server Banner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2.6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226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Low</a:t>
                      </a: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AF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31894" cy="6858000"/>
          </a:xfrm>
          <a:prstGeom prst="rect">
            <a:avLst/>
          </a:prstGeom>
          <a:solidFill>
            <a:srgbClr val="22262B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" y="2372519"/>
            <a:ext cx="6822309" cy="2112963"/>
          </a:xfrm>
          <a:prstGeom prst="roundRect">
            <a:avLst>
              <a:gd name="adj" fmla="val 541"/>
            </a:avLst>
          </a:prstGeom>
          <a:solidFill>
            <a:srgbClr val="E8EDF0"/>
          </a:solidFill>
          <a:ln/>
        </p:spPr>
      </p:sp>
      <p:sp>
        <p:nvSpPr>
          <p:cNvPr id="4" name="Text 2"/>
          <p:cNvSpPr/>
          <p:nvPr/>
        </p:nvSpPr>
        <p:spPr>
          <a:xfrm>
            <a:off x="548567" y="2600451"/>
            <a:ext cx="6334760" cy="1706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$pdo-&gt;prepare('SELECT * FROM users WHERE id = ?');</a:t>
            </a:r>
            <a:endParaRPr lang="en-US" sz="16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$stmt-&gt;execute([$id]);</a:t>
            </a:r>
            <a:endParaRPr lang="en-US" sz="1600" dirty="0"/>
          </a:p>
          <a:p>
            <a:pPr algn="l" indent="0" marL="0">
              <a:lnSpc>
                <a:spcPct val="88000"/>
              </a:lnSpc>
              <a:buNone/>
            </a:pPr>
            <a:endParaRPr lang="en-US" sz="16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htmlspecialchars($input, ENT_QUOTES, 'UTF-8');</a:t>
            </a:r>
            <a:endParaRPr lang="en-US" sz="1600" dirty="0"/>
          </a:p>
          <a:p>
            <a:pPr algn="l" indent="0" marL="0">
              <a:lnSpc>
                <a:spcPct val="88000"/>
              </a:lnSpc>
              <a:buNone/>
            </a:pPr>
            <a:endParaRPr lang="en-US" sz="16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header("Content-Security-Policy: default-src 'self'");</a:t>
            </a:r>
            <a:endParaRPr lang="en-US" sz="16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setcookie('session', $value, ['httponly' =&gt; true, 'samesite' =&gt; 'Strict']);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46172" y="492620"/>
            <a:ext cx="3388335" cy="3017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spc="-44" kern="100" dirty="0">
                <a:solidFill>
                  <a:srgbClr val="22262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Remediation closes the exploit path in code and headers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346172" y="3790355"/>
            <a:ext cx="1117969" cy="31651"/>
          </a:xfrm>
          <a:prstGeom prst="roundRect">
            <a:avLst>
              <a:gd name="adj" fmla="val 49998"/>
            </a:avLst>
          </a:prstGeom>
          <a:solidFill>
            <a:srgbClr val="C6501A"/>
          </a:solidFill>
          <a:ln/>
        </p:spPr>
      </p:sp>
      <p:sp>
        <p:nvSpPr>
          <p:cNvPr id="7" name="Shape 5"/>
          <p:cNvSpPr/>
          <p:nvPr/>
        </p:nvSpPr>
        <p:spPr>
          <a:xfrm>
            <a:off x="8346172" y="4112617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92119" y="4220567"/>
            <a:ext cx="7239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30357" y="4139922"/>
            <a:ext cx="2804149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PHP PDO parameterized queries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46172" y="5094288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92119" y="5202238"/>
            <a:ext cx="7239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30357" y="5121593"/>
            <a:ext cx="2804149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Apply context-aware HTML encoding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346172" y="6075958"/>
            <a:ext cx="406390" cy="406400"/>
          </a:xfrm>
          <a:prstGeom prst="ellipse">
            <a:avLst/>
          </a:prstGeom>
          <a:solidFill>
            <a:srgbClr val="C6501A"/>
          </a:solidFill>
          <a:ln w="25399">
            <a:solidFill>
              <a:srgbClr val="FAF9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92119" y="6183908"/>
            <a:ext cx="7239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30357" y="6103263"/>
            <a:ext cx="2804149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226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Set a strict CSP and secure cookie flags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2026-10-11T04:02:22Z</dcterms:created>
  <dcterms:modified xsi:type="dcterms:W3CDTF">2026-10-11T04:02:22Z</dcterms:modified>
</cp:coreProperties>
</file>